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(generic reranker)</c:v>
                </c:pt>
              </c:strCache>
            </c:strRef>
          </c:tx>
          <c:spPr>
            <a:solidFill>
              <a:srgbClr val="B9C8D4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0F3D5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</c:v>
                </c:pt>
                <c:pt idx="1">
                  <c:v>Calibrated confidence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C9-4A02-8E8B-7B6BFABEE3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OsteoGuard (MedCPT + fixes)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0F3D5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</c:v>
                </c:pt>
                <c:pt idx="1">
                  <c:v>Calibrated confidence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87.6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0C9-4A02-8E8B-7B6BFABEE3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3D5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8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647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736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The Innovators, and this is OsteoGuard AI - a clinical decision-support system for osteoarthritis that answers only from official guidelines, and cites every claim to its exact page. [30 seconds. For the 5-minute hackathon format, present slides 2, 5, 6, 7, 8, then go straight to the live demo.]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in twelve Egyptian adults lives with osteoarthritis - about six million people, women nearly twice as often as men. And the main modifiable driver, obesity, affects 40% of our adults by the Ministry’s own 100 Million Health screening. This burden is not going down; it is projected to rise over 40% by 2035. [60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to manage these six million patients already exists - NICE and ACR guidelines. The problem is access at the point of care: hundreds of pages, minutes per patient. And the obvious shortcut, a generic chatbot, hallucinates - which in medicine is dangerous. So our question was: can AI answer from the guidelines, and ONLY the guidelines? [45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OsteoGuard. A clinician asks in Arabic or English; the system retrieves the relevant guideline passages, answers strictly from them, and cites each claim to document and page. What you see here is a real, live answer - the system quotes ACR page 9 word for word. [45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started from the official PDFs. PyMuPDF parses them, boilerplate is stripped, and the text is chunked into 238 passages - each one keeping its section title and page number. That metadata is the foundation: citations are only possible because traceability is preserved from the first step. Embeddings are PubMedBERT - a biomedical model - stored in a local ChromaDB.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question arrives, two searches run in parallel: BM25 keyword search - expanded so clinical abbreviations like TENS match their full terms - and semantic search over PubMedBERT embeddings. The two lists are fused, then a biomedical cross-encoder, MedCPT, reranks the pool and picks the top five passages. Everything you just heard runs locally on one CPU.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slide. Four defences. One: the model can only speak from retrieved passages - ask it about blood pressure and it refuses, live. Two: every claim is cited to a page you can open. Three: safety warnings must quote the report verbatim, and we verify the quote actually exists in the text - so the system cannot invent an emergency. Four: report summaries are forbidden from inferring - missing information comes back as "not stated". The principle: if it cannot prove it, it does not say it. [70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ask you to trust adjectives. On a 50-question clinical test set with ground truth, retrieval precision at 5 is 87.6%, up from a 78% baseline - and the confidence figure the clinician sees is calibrated, so 88% displayed means 88% measured. The engine also has three presets, so a busy clinic can choose speed over the last few points of precision.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problems. Our precision was stuck in the seventies - the culprit was a generic web reranker judging medical text; a biomedical reranker fixed it. Gemini was slow and its SDK was end-of-life, so we moved generation to Groq - sub-second now. During that migration our testing caught a smaller model translating the Arabic for osteoarthritis as "bone fractures" - we rejected it; we test before we trust. And when one in six outputs degenerated into invisible characters, we measured it and built automatic detection and retry. [60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Around the assistant we built a working clinical workflow. On screen: a real septic-arthritis report - the system summarised it AND raised the red banner, quoting the exact words that triggered it. On the right: full Arabic support including Arabic summaries, OCR that reads phone-scanned paper reports locally, patient records stored only on the clinic machine, and exercise video recommendations to hand the patient. [55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for Egypt specifically. It is Arabic-first. It is sovereign - patient data stays in the clinic. It directly targets the obesity-osteoarthritis link that the 100 Million Health initiative itself documented. And it is a platform: the same pipeline can index the 2025 Egyptian knee-OA guideline next, then diabetes, then hypertension. It runs on one ordinary machine per clinic.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close where we started: six million Egyptians with osteoarthritis deserve answers their clinicians can verify. OsteoGuard gives evidence, cited, in Arabic. Let us show you live. [20 seconds, then switch to the app]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5485" y="-2604573"/>
            <a:ext cx="6182464" cy="5761919"/>
          </a:xfrm>
          <a:prstGeom prst="ellipse">
            <a:avLst/>
          </a:prstGeom>
          <a:solidFill>
            <a:schemeClr val="tx1">
              <a:alpha val="12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1463040" y="4206240"/>
            <a:ext cx="4754880" cy="4754880"/>
          </a:xfrm>
          <a:prstGeom prst="ellipse">
            <a:avLst/>
          </a:prstGeom>
          <a:solidFill>
            <a:srgbClr val="059669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424160" y="4937760"/>
            <a:ext cx="2377440" cy="2377440"/>
          </a:xfrm>
          <a:prstGeom prst="ellipse">
            <a:avLst/>
          </a:prstGeom>
          <a:solidFill>
            <a:srgbClr val="059669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483870"/>
            <a:ext cx="960120" cy="96012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stethoscop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685038"/>
            <a:ext cx="557784" cy="5577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1718" y="17659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22960" y="292874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clinical decision support for osteoarthritis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95528" y="3729990"/>
            <a:ext cx="4023360" cy="0"/>
          </a:xfrm>
          <a:prstGeom prst="line">
            <a:avLst/>
          </a:prstGeom>
          <a:noFill/>
          <a:ln w="12700">
            <a:solidFill>
              <a:srgbClr val="2C5A7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795528" y="3930967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The Innovators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77240" y="5393423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Clinical Decision Support Hackathon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91CBD-4D48-78DF-604A-435F92F54FCF}"/>
              </a:ext>
            </a:extLst>
          </p:cNvPr>
          <p:cNvSpPr txBox="1"/>
          <p:nvPr/>
        </p:nvSpPr>
        <p:spPr>
          <a:xfrm>
            <a:off x="777240" y="4683175"/>
            <a:ext cx="10533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</a:t>
            </a:r>
            <a:r>
              <a:rPr lang="en-US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Elbasiouny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	 ·	  Ibrahim Ahmed  		· 	 Ali Sherif</a:t>
            </a:r>
            <a:endParaRPr lang="en-US" b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CABC7EE-BBA4-8553-D6CB-664AABB222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074154" y="14036"/>
            <a:ext cx="1186046" cy="11860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87B1AEE-7ABF-364B-794D-CA07D7A49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160" y="22355"/>
            <a:ext cx="1320817" cy="11777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A039A7C-5E7C-3428-E10B-1A663E71682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495485" y="29714"/>
            <a:ext cx="1546122" cy="134977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2EA3AF2-29EA-5215-4B86-8CAE0A000C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699148" y="-423935"/>
            <a:ext cx="2237154" cy="22371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Osteoarthritis is Egypt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joint disease in Egypt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18488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545336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22376" y="2258568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adults have osteoarthritis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2898648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community study, rural Egypt 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05656" y="141732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306824" y="1618488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C:\Users\joeel\AppData\Local\Temp\claude\C--Users-joeel-OneDrive-Desktop-OSTEO-GUARD-AI-HACKATHON\50822f89-9b27-4823-a591-5b0dd7613f67\scratchpad\deck\icons\hospi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73736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82896" y="1545336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325112" y="2258568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 million Egyptian adults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325112" y="2898648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920" y="3813048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04088" y="4014216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C:\Users\joeel\AppData\Local\Temp\claude\C--Users-joeel-OneDrive-Desktop-OSTEO-GUARD-AI-HACKATHON\50822f89-9b27-4823-a591-5b0dd7613f67\scratchpad\deck\icons\fema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33088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941064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22376" y="4654296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affected vs 6.1% of men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722376" y="5294376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carry almost double the burden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105656" y="3813048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306824" y="4014216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C:\Users\joeel\AppData\Local\Temp\claude\C--Users-joeel-OneDrive-Desktop-OSTEO-GUARD-AI-HACKATHON\50822f89-9b27-4823-a591-5b0dd7613f67\scratchpad\deck\icons\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4133088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882896" y="3941064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8.1%</a:t>
            </a:r>
            <a:endParaRPr lang="en-US" sz="3400" dirty="0"/>
          </a:p>
        </p:txBody>
      </p:sp>
      <p:sp>
        <p:nvSpPr>
          <p:cNvPr id="26" name="Text 20"/>
          <p:cNvSpPr/>
          <p:nvPr/>
        </p:nvSpPr>
        <p:spPr>
          <a:xfrm>
            <a:off x="4325112" y="4654296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OA — over half of all rheumatic disease seen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4325112" y="5294376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common rheumatic diagnosis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635240" y="1417320"/>
            <a:ext cx="4041648" cy="2743200"/>
          </a:xfrm>
          <a:prstGeom prst="roundRect">
            <a:avLst>
              <a:gd name="adj" fmla="val 3000"/>
            </a:avLst>
          </a:prstGeom>
          <a:solidFill>
            <a:srgbClr val="F0FDF6"/>
          </a:solidFill>
          <a:ln w="12700">
            <a:solidFill>
              <a:srgbClr val="D5F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7863840" y="1645920"/>
            <a:ext cx="502920" cy="5029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C:\Users\joeel\AppData\Local\Temp\claude\C--Users-joeel-OneDrive-Desktop-OSTEO-GUARD-AI-HACKATHON\50822f89-9b27-4823-a591-5b0dd7613f67\scratchpad\deck\icons\we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599" y="1776679"/>
            <a:ext cx="241402" cy="24140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503920" y="166420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is obesity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7863840" y="22128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39.8%</a:t>
            </a:r>
            <a:endParaRPr lang="en-US" sz="4000" dirty="0"/>
          </a:p>
        </p:txBody>
      </p:sp>
      <p:sp>
        <p:nvSpPr>
          <p:cNvPr id="33" name="Text 26"/>
          <p:cNvSpPr/>
          <p:nvPr/>
        </p:nvSpPr>
        <p:spPr>
          <a:xfrm>
            <a:off x="7863840" y="2971800"/>
            <a:ext cx="3584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Egyptian adults are obese measured by the Ministry’s own 100 Million Health screening of 49.7 million adults (2019). Around 50% among women.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7635240" y="4343400"/>
            <a:ext cx="4041648" cy="1298448"/>
          </a:xfrm>
          <a:prstGeom prst="roundRect">
            <a:avLst>
              <a:gd name="adj" fmla="val 6338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7863840" y="4590288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C:\Users\joeel\AppData\Local\Temp\claude\C--Users-joeel-OneDrive-Desktop-OSTEO-GUARD-AI-HACKATHON\50822f89-9b27-4823-a591-5b0dd7613f67\scratchpad\deck\icons\u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4709160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476488" y="4498848"/>
            <a:ext cx="2990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+44% by 2035. </a:t>
            </a:r>
            <a:r>
              <a:rPr lang="en-US" sz="12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knee-OA prevalence is projected to rise sharply as populations age and obesity grows, Egypt is on that curve.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WHO-ILAR COPCORD osteoarthritis study, rural Egypt · Egypt “100 Million Health” initiative screening, 2019 · Global Burden of Disease 2021 knee-OA projections to 2035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EF716B50-A415-3F5E-5FF2-8FF4192F6849}"/>
              </a:ext>
            </a:extLst>
          </p:cNvPr>
          <p:cNvSpPr/>
          <p:nvPr/>
        </p:nvSpPr>
        <p:spPr>
          <a:xfrm>
            <a:off x="4325112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“100 Million Health” initiative screening, 2019</a:t>
            </a:r>
            <a:endParaRPr lang="en-US" sz="105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85953A6-8E93-DDCE-3D0C-A595091A31B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725264" y="-345023"/>
            <a:ext cx="1963511" cy="196351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74B53BC-52A8-CCA4-2DDF-DAA604247A5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8677656" y="224028"/>
            <a:ext cx="950976" cy="978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exists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guideline knowledge fails at the point of care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801368"/>
            <a:ext cx="585216" cy="585216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1953524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6550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are buried in hundreds of pages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600200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NG226 and the ACR/AF 2019 guideline hold the evidence for every osteoarthritis decision.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8803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77240" y="3172968"/>
            <a:ext cx="585216" cy="585216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do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396" y="3325124"/>
            <a:ext cx="280904" cy="2809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0266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 in a crowded clinic has minutes, not hours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1600200" y="34290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patient volumes leave no time to verify a recommendation, a dose ceiling, or a referral threshold against the source.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42519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77240" y="4544568"/>
            <a:ext cx="585216" cy="5852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a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396" y="4696724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3982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chatbots hallucinate in medicine is dangerous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600200" y="4800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fluent, confident, wrong answer is worse than no answer. Clinical AI must prove where every claim comes from.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 </a:t>
            </a:r>
            <a:r>
              <a:rPr lang="en-US" sz="1600" i="1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AI answer from the guidelines without hallucination?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</a:t>
            </a: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is a bilingual guideline assistant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57" y="1614465"/>
            <a:ext cx="245791" cy="2457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Arabic or English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188720" y="184708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translated for search; the answer comes back in the language it was asked in.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2615184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C:\Users\joeel\AppData\Local\Temp\claude\C--Users-joeel-OneDrive-Desktop-OSTEO-GUARD-AI-HACKATHON\50822f89-9b27-4823-a591-5b0dd7613f67\scratchpad\deck\icons\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57" y="2748321"/>
            <a:ext cx="245791" cy="24579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5968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only from retrieved guideline text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188720" y="29809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answers from its own memory — out-of-scope questions are refused.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02920" y="374904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C:\Users\joeel\AppData\Local\Temp\claude\C--Users-joeel-OneDrive-Desktop-OSTEO-GUARD-AI-HACKATHON\50822f89-9b27-4823-a591-5b0dd7613f67\scratchpad\deck\icons\qu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057" y="3882177"/>
            <a:ext cx="245791" cy="24579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7307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cited to document + page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188720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expands to the exact guideline passage behind the claim.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02920" y="4882896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C:\Users\joeel\AppData\Local\Temp\claude\C--Users-joeel-OneDrive-Desktop-OSTEO-GUARD-AI-HACKATHON\50822f89-9b27-4823-a591-5b0dd7613f67\scratchpad\deck\icons\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057" y="5016033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4864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confidence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188720" y="524865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% shown tracks measured precision — not a raw model score.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108192" y="1417320"/>
            <a:ext cx="5614416" cy="3557016"/>
          </a:xfrm>
          <a:prstGeom prst="roundRect">
            <a:avLst>
              <a:gd name="adj" fmla="val 205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C:\Users\joeel\AppData\Local\Temp\claude\C--Users-joeel-OneDrive-Desktop-OSTEO-GUARD-AI-HACKATHON\50822f89-9b27-4823-a591-5b0dd7613f67\scratchpad\shots\02_answer_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1481328"/>
            <a:ext cx="5486400" cy="3429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172200" y="5074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topical NSAIDs recommended before oral NSAIDs?” — answered live, quoting ACR/AF 2019 p.9 and NICE NG226 p.12–13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numbers and section titles survive every step, so citations are possible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9224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65960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C:\Users\joeel\AppData\Local\Temp\claude\C--Users-joeel-OneDrive-Desktop-OSTEO-GUARD-AI-HACKATHON\50822f89-9b27-4823-a591-5b0dd7613f67\scratchpad\deck\icons\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194767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sources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67512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NG226 and ACR/AF 2019 — the two reference guidelines for OA management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06040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770632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916936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916936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233672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C:\Users\joeel\AppData\Local\Temp\claude\C--Users-joeel-OneDrive-Desktop-OSTEO-GUARD-AI-HACKATHON\50822f89-9b27-4823-a591-5b0dd7613f67\scratchpad\deck\icons\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544" y="1947672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35224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clean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2935224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extraction; repeated headers, footers and boilerplate stripped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73752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038344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184648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5184648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501384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2" descr="C:\Users\joeel\AppData\Local\Temp\claude\C--Users-joeel-OneDrive-Desktop-OSTEO-GUARD-AI-HACKATHON\50822f89-9b27-4823-a591-5b0dd7613f67\scratchpad\deck\icons\mic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194767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02936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+ metadata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5202936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text split into passages, each tagged with section title and page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141464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7306056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7452360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745236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8769096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3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194767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70648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passages · 49 sections</a:t>
            </a:r>
            <a:endParaRPr lang="en-US" sz="1350" dirty="0"/>
          </a:p>
        </p:txBody>
      </p:sp>
      <p:sp>
        <p:nvSpPr>
          <p:cNvPr id="34" name="Text 28"/>
          <p:cNvSpPr/>
          <p:nvPr/>
        </p:nvSpPr>
        <p:spPr>
          <a:xfrm>
            <a:off x="7470648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with PubMedBERT — a biomedical model, not a generic one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9409176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9573768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9720072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972007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Shape 33"/>
          <p:cNvSpPr/>
          <p:nvPr/>
        </p:nvSpPr>
        <p:spPr>
          <a:xfrm>
            <a:off x="11036808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4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5680" y="1947672"/>
            <a:ext cx="219456" cy="21945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38360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vector store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9738360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on disk — the whole index runs offline on one machine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7"/>
          <p:cNvSpPr/>
          <p:nvPr/>
        </p:nvSpPr>
        <p:spPr>
          <a:xfrm>
            <a:off x="749808" y="5138928"/>
            <a:ext cx="530352" cy="53035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5" descr="C:\Users\joeel\AppData\Local\Temp\claude\C--Users-joeel-OneDrive-Desktop-OSTEO-GUARD-AI-HACKATHON\50822f89-9b27-4823-a591-5b0dd7613f67\scratchpad\deck\icons\clip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700" y="5276820"/>
            <a:ext cx="254569" cy="254569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1481328" y="512064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is built in at ingestion. </a:t>
            </a: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passage keeps its page number and section, every answer can point back to the exact place in the official document.</a:t>
            </a:r>
            <a:endParaRPr lang="en-US" sz="1250" dirty="0"/>
          </a:p>
        </p:txBody>
      </p:sp>
      <p:sp>
        <p:nvSpPr>
          <p:cNvPr id="47" name="Text 3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fused and reranked; runs 100% locally on CPU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65376"/>
            <a:ext cx="20116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922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do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831" y="209799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011680"/>
            <a:ext cx="1243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question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67512" y="257860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or English → translated to English for the index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80360" y="1353312"/>
            <a:ext cx="3017520" cy="1207008"/>
          </a:xfrm>
          <a:prstGeom prst="roundRect">
            <a:avLst>
              <a:gd name="adj" fmla="val 6818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026664" y="1481328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271" y="1585935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1499616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(BM25)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44952" y="206654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clinical abbreviation expansion: TENS, PRP, CMC, PEMF …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880360" y="2724912"/>
            <a:ext cx="3017520" cy="1207008"/>
          </a:xfrm>
          <a:prstGeom prst="roundRect">
            <a:avLst>
              <a:gd name="adj" fmla="val 6818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026664" y="2852928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271" y="2957535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02152" y="2871216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044952" y="343814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 embeddings in ChromaDB — meaning, not just words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1865376"/>
            <a:ext cx="237744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0994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4551" y="2097999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85432" y="2011680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28232" y="257860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 lists merged into one candidate pool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006840" y="1865376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EAF7F1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15314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C:\Users\joeel\AppData\Local\Temp\claude\C--Users-joeel-OneDrive-Desktop-OSTEO-GUARD-AI-HACKATHON\50822f89-9b27-4823-a591-5b0dd7613f67\scratchpad\deck\icons\mic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751" y="2097999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28632" y="2011680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MedCPT reranker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171432" y="2578608"/>
            <a:ext cx="2368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biomedical cross-encoder trained on PubMed picks the winners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rot="-1200000">
            <a:off x="2532888" y="1810512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 rot="1200000">
            <a:off x="2532888" y="3200400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 rot="1200000">
            <a:off x="5916168" y="1810512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 rot="-1200000">
            <a:off x="5916168" y="3200400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6"/>
          <p:cNvSpPr/>
          <p:nvPr/>
        </p:nvSpPr>
        <p:spPr>
          <a:xfrm>
            <a:off x="8659368" y="2514600"/>
            <a:ext cx="329184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502920" y="4224528"/>
            <a:ext cx="11201400" cy="914400"/>
          </a:xfrm>
          <a:prstGeom prst="roundRect">
            <a:avLst>
              <a:gd name="adj" fmla="val 9000"/>
            </a:avLst>
          </a:prstGeom>
          <a:solidFill>
            <a:srgbClr val="0F3D56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777240" y="436168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5 guideline passages, each with document, section, page — and a confidence % calibrated against measured precision.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02920" y="5349240"/>
            <a:ext cx="11201400" cy="804672"/>
          </a:xfrm>
          <a:prstGeom prst="roundRect">
            <a:avLst>
              <a:gd name="adj" fmla="val 10227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749808" y="5486400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5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45" y="5619537"/>
            <a:ext cx="245791" cy="245791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463040" y="5458968"/>
            <a:ext cx="10058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by design. </a:t>
            </a: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index and reranker all run locally — retrieval works with no internet and no data leaving the machine.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prevention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that makes clinical AI usable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25" y="1797345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09928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Grounded-only generation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40664" y="2240280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strictly over retrieved passages. Asked about antihypertensives, it replies: “the osteoarthritis guidelines you provided do not contain information on this” — it refuses rather than guesses.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27064" y="1463040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28232" y="166420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qu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369" y="179734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95744" y="1709928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Page-level citations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its document and page, and each source expands to the exact passage — the judge can check us in seconds.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822192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" y="402336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a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25" y="4156497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4069080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Verbatim-quote verification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40664" y="4599432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red-flag warning must quote the report word-for-word, and the quote is checked against the source text. A flag whose evidence is not literally present is discarded — the model cannot invent an emergency.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27064" y="3822192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28232" y="402336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clip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369" y="4156497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95744" y="4069080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No inference in summaries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464808" y="4599432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report does not state returns “Not stated in the report” — never a plausible guess. Doses, dates and units are reproduced exactly as written.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cannot prove it, it does not say it.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claimed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a 100-query clinical test set with per-query ground truth</a:t>
            </a:r>
            <a:endParaRPr lang="en-US" sz="13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463040"/>
          <a:ext cx="60350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463040"/>
            <a:ext cx="4754880" cy="1554480"/>
          </a:xfrm>
          <a:prstGeom prst="roundRect">
            <a:avLst>
              <a:gd name="adj" fmla="val 5294"/>
            </a:avLst>
          </a:prstGeom>
          <a:solidFill>
            <a:srgbClr val="F0FDF6"/>
          </a:solidFill>
          <a:ln w="12700">
            <a:solidFill>
              <a:srgbClr val="D5F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7804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464040" y="17099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Precision@5 — up 9.6 points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178040" y="230428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 calibrated confidence — the reported number now tracks what we actually measure.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949440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/ accuracy presets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611880"/>
          <a:ext cx="4754880" cy="1243584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Precision@5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949440" y="4983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tunable per deployment — a busy clinic can trade 3 points of precision for a 3× faster answer.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have hit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from a 78% prototype to a system we can defend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618488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1761134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4904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stuck in the 70s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a web-search reranker judging clinical text. Replaced with the MedCPT biomedical cross-encoder and fixed an over-aggressive section filter → 87.6% precision, 88.2% confidence.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008376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01714" y="3218688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60" y="3368532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0906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replies were slow — and its SDK reached end-of-life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470355" y="3493008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Migrated generation to Groq (gpt-oss-120B). Generation now takes under one second; total latency is dominated by our own local reranker, which we control.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4791456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31520" y="4992624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5135270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864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6 outputs degenerated into invisible filler characters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508760" y="524865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it, built detection, and resample automatically — residual failure rate now under 1%.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02920" y="6035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became a measurement, then a fix — </a:t>
            </a:r>
            <a:r>
              <a:rPr lang="en-US" sz="1400" b="1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hidden.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Q&amp;A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captured live from the running product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38912" y="1444752"/>
            <a:ext cx="6665976" cy="4215384"/>
          </a:xfrm>
          <a:prstGeom prst="roundRect">
            <a:avLst>
              <a:gd name="adj" fmla="val 1735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C:\Users\joeel\AppData\Local\Temp\claude\C--Users-joeel-OneDrive-Desktop-OSTEO-GUARD-AI-HACKATHON\50822f89-9b27-4823-a591-5b0dd7613f67\scratchpad\shots\04_redflag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6537960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74243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summarizer + red-flag screen.  </a:t>
            </a: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scanned or pasted report is summarised under fixed headings — and a septic-arthritis report triggers the warning banner, with the verbatim evidence quoted.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60920" y="1508760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507224" y="1691640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851" y="1815267"/>
            <a:ext cx="228234" cy="2282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38160" y="158191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Arabic, end to end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138160" y="18928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interface, Arabic questions, Arabic summaries — doses and drug names kept exactly as written.</a:t>
            </a:r>
            <a:endParaRPr lang="en-US" sz="980" dirty="0"/>
          </a:p>
        </p:txBody>
      </p:sp>
      <p:sp>
        <p:nvSpPr>
          <p:cNvPr id="12" name="Shape 8"/>
          <p:cNvSpPr/>
          <p:nvPr/>
        </p:nvSpPr>
        <p:spPr>
          <a:xfrm>
            <a:off x="7360920" y="2587752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7507224" y="2770632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C:\Users\joeel\AppData\Local\Temp\claude\C--Users-joeel-OneDrive-Desktop-OSTEO-GUARD-AI-HACKATHON\50822f89-9b27-4823-a591-5b0dd7613f67\scratchpad\deck\icons\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851" y="2894259"/>
            <a:ext cx="228234" cy="2282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38160" y="2660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for phone scans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38160" y="297180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CamScanner photo of a paper MRI report is read locally — 252 words recovered in our live test.</a:t>
            </a:r>
            <a:endParaRPr lang="en-US" sz="980" dirty="0"/>
          </a:p>
        </p:txBody>
      </p:sp>
      <p:sp>
        <p:nvSpPr>
          <p:cNvPr id="17" name="Shape 12"/>
          <p:cNvSpPr/>
          <p:nvPr/>
        </p:nvSpPr>
        <p:spPr>
          <a:xfrm>
            <a:off x="7360920" y="3666744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507224" y="3849624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851" y="3973251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38160" y="3739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patient records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8138160" y="40507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Assessments saved to a file on the clinic’s machine. No cloud, no account, nothing uploaded.</a:t>
            </a:r>
            <a:endParaRPr lang="en-US" sz="980" dirty="0"/>
          </a:p>
        </p:txBody>
      </p:sp>
      <p:sp>
        <p:nvSpPr>
          <p:cNvPr id="22" name="Shape 16"/>
          <p:cNvSpPr/>
          <p:nvPr/>
        </p:nvSpPr>
        <p:spPr>
          <a:xfrm>
            <a:off x="7360920" y="4745736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7507224" y="4928616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4" descr="C:\Users\joeel\AppData\Local\Temp\claude\C--Users-joeel-OneDrive-Desktop-OSTEO-GUARD-AI-HACKATHON\50822f89-9b27-4823-a591-5b0dd7613f67\scratchpad\deck\icons\vide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851" y="5052243"/>
            <a:ext cx="228234" cy="22823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138160" y="481888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video links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8138160" y="512978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Guideline-first exercise answers come with joint-matched video searches to show the patient.</a:t>
            </a:r>
            <a:endParaRPr lang="en-US" sz="98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Egypt’s health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fit the Ministry’s priorities, not just a demo bench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80" y="1802100"/>
            <a:ext cx="254569" cy="2545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1907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Arabic-first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0664" y="224028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guideline assistant your clinicians can use in their own language — questions, answers and report summaries.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27064" y="146304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28232" y="166420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124" y="1802100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23176" y="171907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and records run locally; no patient identifier needs to leave the clinic. Fits national data-protection requirements.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61188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" y="381304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980" y="3950940"/>
            <a:ext cx="254569" cy="2545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99032" y="386791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100 Million Health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40664" y="438912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obesity–osteoarthritis link the initiative itself measured — 40% of adults — with guideline-backed weight and exercise advice.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27064" y="361188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28232" y="381304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ro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124" y="3950940"/>
            <a:ext cx="254569" cy="2545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23176" y="386791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platform, not a single app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64808" y="438912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index the Egyptian knee-OA clinical practice guideline (2025), extend to diabetes and hypertension, integrate with EMRs.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run: one machine + a commodity LLM API — no GPUs, no severs &amp; no patient-data cloud contracts.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CD2781D-90F6-4F3E-52F9-56B162A8CF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567982" y="3383280"/>
            <a:ext cx="1247602" cy="1247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486400" cy="5486400"/>
          </a:xfrm>
          <a:prstGeom prst="ellipse">
            <a:avLst/>
          </a:prstGeom>
          <a:solidFill>
            <a:srgbClr val="0284C7">
              <a:alpha val="12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326880" y="3840480"/>
            <a:ext cx="4937760" cy="4937760"/>
          </a:xfrm>
          <a:prstGeom prst="ellipse">
            <a:avLst/>
          </a:prstGeom>
          <a:solidFill>
            <a:srgbClr val="059669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Evidence. Cited. In Arabic.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825115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 — guideline answers Egyptian clinicians can verify in one click.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059669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a live demonstration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5029200"/>
            <a:ext cx="4023360" cy="0"/>
          </a:xfrm>
          <a:prstGeom prst="line">
            <a:avLst/>
          </a:prstGeom>
          <a:noFill/>
          <a:ln w="12700">
            <a:solidFill>
              <a:srgbClr val="2C5A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51937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The Innovators   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Elbasiouny · Ibrahim Ahmed · Ali Sherif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شكراً</a:t>
            </a:r>
            <a:endParaRPr 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1BCEAE-F473-5A5A-0B4F-747D17065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242" y="322897"/>
            <a:ext cx="2997518" cy="29975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117DFE-63FE-E849-A0D4-A3EB9595B7F9}"/>
              </a:ext>
            </a:extLst>
          </p:cNvPr>
          <p:cNvSpPr txBox="1"/>
          <p:nvPr/>
        </p:nvSpPr>
        <p:spPr>
          <a:xfrm>
            <a:off x="8798242" y="3107174"/>
            <a:ext cx="2997518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Github Repository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2345</Words>
  <Application>Microsoft Office PowerPoint</Application>
  <PresentationFormat>Widescreen</PresentationFormat>
  <Paragraphs>187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Youssef El-Basiouny</cp:lastModifiedBy>
  <cp:revision>9</cp:revision>
  <dcterms:created xsi:type="dcterms:W3CDTF">2026-08-19T21:54:02Z</dcterms:created>
  <dcterms:modified xsi:type="dcterms:W3CDTF">2026-08-20T07:09:10Z</dcterms:modified>
</cp:coreProperties>
</file>